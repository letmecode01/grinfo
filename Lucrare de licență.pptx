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5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6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theme/theme7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4"/>
    <p:sldMasterId id="2147483735" r:id="rId5"/>
    <p:sldMasterId id="2147483776" r:id="rId6"/>
    <p:sldMasterId id="2147483793" r:id="rId7"/>
    <p:sldMasterId id="2147483817" r:id="rId8"/>
    <p:sldMasterId id="2147483835" r:id="rId9"/>
    <p:sldMasterId id="2147483865" r:id="rId10"/>
  </p:sld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6" r:id="rId20"/>
    <p:sldId id="26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62E0A8-B3B4-43F0-ABDD-FCAAD075F3FF}" v="6" dt="2026-07-20T21:36:04.0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–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A111915-BE36-4E01-A7E5-04B1672EAD32}" styleName="Light Style 2 –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slide" Target="slides/slide1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viewProps" Target="viewProp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816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0651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874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666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873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375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296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06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236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570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47071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D1D1EADE-8E88-4C7C-8AC5-FB148DE4940E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6667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4114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97614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4965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43070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0453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0121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6914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4785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2788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77249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2651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1432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9560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3777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4766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5394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38832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0624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7/25/2026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83204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323323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212911"/>
      </p:ext>
    </p:extLst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334623"/>
      </p:ext>
    </p:extLst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33684376"/>
      </p:ext>
    </p:extLst>
  </p:cSld>
  <p:clrMapOvr>
    <a:masterClrMapping/>
  </p:clrMapOvr>
  <p:hf sldNum="0" hdr="0" ft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41989"/>
      </p:ext>
    </p:extLst>
  </p:cSld>
  <p:clrMapOvr>
    <a:masterClrMapping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54885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3530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1D1EADE-8E88-4C7C-8AC5-FB148DE4940E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011756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90025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3DB64E7-5594-42A3-ADBF-E95A7ACEAD64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19857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79417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74787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45796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85483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4F76144-149E-4874-93A5-554A0357CF82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79515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16916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1400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2D3AED5-E26D-4E29-B1B3-7847B6779594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997555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D1D1EADE-8E88-4C7C-8AC5-FB148DE4940E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052844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69313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306886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18626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910807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841648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10533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219623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33285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593347"/>
      </p:ext>
    </p:extLst>
  </p:cSld>
  <p:clrMapOvr>
    <a:masterClrMapping/>
  </p:clrMapOvr>
  <p:hf sldNum="0" hdr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3065635"/>
      </p:ext>
    </p:extLst>
  </p:cSld>
  <p:clrMapOvr>
    <a:masterClrMapping/>
  </p:clrMapOvr>
  <p:hf sldNum="0"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0842152"/>
      </p:ext>
    </p:extLst>
  </p:cSld>
  <p:clrMapOvr>
    <a:masterClrMapping/>
  </p:clrMapOvr>
  <p:hf sldNum="0"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692007"/>
      </p:ext>
    </p:extLst>
  </p:cSld>
  <p:clrMapOvr>
    <a:masterClrMapping/>
  </p:clrMapOvr>
  <p:hf sldNum="0"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2861876"/>
      </p:ext>
    </p:extLst>
  </p:cSld>
  <p:clrMapOvr>
    <a:masterClrMapping/>
  </p:clrMapOvr>
  <p:hf sldNum="0"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3873474"/>
      </p:ext>
    </p:extLst>
  </p:cSld>
  <p:clrMapOvr>
    <a:masterClrMapping/>
  </p:clrMapOvr>
  <p:hf sldNum="0"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48039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84991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5DC93-A654-41F9-18E2-C47921F08A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21F1E6-A173-4C64-A756-6BB7D5AC8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D58F01-8753-882F-2E29-8FB5DACEA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DB9AB-0BD0-0CC9-9B8A-6CD39C910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76993E-C0FD-4BEC-72CD-E33073824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132956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E4FED-A8EB-3E1F-5D14-C2424910A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3690C-6402-8796-C043-7268FF1DB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FC37D-310F-DBC8-D512-867F8738A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94DB3-EA07-722C-B742-85CA8DBB0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5C759-33A5-99C3-31B4-438F2F7A8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00371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B60F4-48F6-F3C4-43CD-0E6A49CFA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D1D099-3129-2B4C-1FD2-98A4EB9D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9027A-C936-B47F-E825-BEFF68069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EF88E-FA96-FCCA-6305-59BE50025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C5343-CA3D-E53C-9425-AB1212D08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5140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217BF-0C5C-A8DC-FE97-5611E20FB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913AB-AFED-9867-C866-2EA6BB7A58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007B5B-A0EB-BCD6-646F-81A3B941C1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10A58A-8B74-05B5-1E6A-79BFDE539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52BB0-B169-F908-DAA2-D167EFCC8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B37B15-6CA5-C804-04CA-986704DD2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82007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F8508-98AD-33D7-ADCA-FF54755B7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17B090-298D-3C57-AB59-28587F5AE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122894-E5C5-70D3-A32D-92A77D01D8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5E169F-DAFC-6957-B172-59C45EC5C4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468C74-87BF-B90E-D219-069B1A6BA7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DB5F2B-8817-8EDA-B54C-E9C88810E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16B96-F91F-9AFC-D924-E2DF564F1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BC9FF9-E2AF-02CE-C9A0-297E558E9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273465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5ED18-705E-B26D-D289-A915A4515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39967A-9DC1-C618-C6B3-D16B98B03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8BFC7A-F6DD-7940-4569-8C04CF680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51C519-7FC4-9C19-3339-00184AB89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01694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4C5B5A-B43A-EE7F-49AC-E94A50840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DEB44C-F2B5-41F3-972C-6051E3A77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99040-3FE2-3961-80AB-B9CB02454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3169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1DDD2-7E82-1CB7-4C9D-9285B6E07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172E8-026E-7C67-13B3-D97D5D763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851D74-4A91-611D-1214-C9503C3E30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4C1550-00A0-F2AB-307B-316049AB7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7B1540-A908-B540-4A27-1CAC5BB8B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B709F7-FDF9-6F58-7868-667C304D1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51134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F84D-F4B0-1963-C27B-79CC75B69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4979E9-A4F9-78A4-4518-E8D31C76B5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E48682-BDF0-3046-F45A-C77BF1F7E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0B6E32-1CEF-5448-7429-4065BA610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896C04-80AC-6B3A-0E0B-811441F11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B31FC9-63BE-6B5E-9842-859B9EAE2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236248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0C427-5235-EC39-7FC1-7E20217D5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867B23-6B69-E768-9909-105E44316F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B2AD1-0034-340E-3BED-14A5877E2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22AD4-52D3-B658-8B37-F5FF2A50C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C4557-515F-171A-C4B4-10C82F821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56122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DBFA70-D637-5F7B-877C-9DB5177545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BDD56D-E570-FDBA-7FA5-9901302401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6B97C-2F13-C514-534A-80886471A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BC0D4-B88D-ABA4-493B-4E1A94260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22D14-83E4-6230-BF74-43208F29D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92368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2"/>
              </a:gs>
              <a:gs pos="100000">
                <a:schemeClr val="accent2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D1D1EADE-8E88-4C7C-8AC5-FB148DE4940E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9144" y="4882896"/>
            <a:ext cx="4050792" cy="1197864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9495568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216030"/>
      </p:ext>
    </p:extLst>
  </p:cSld>
  <p:clrMapOvr>
    <a:masterClrMapping/>
  </p:clrMapOvr>
  <p:hf sldNum="0" hdr="0" ftr="0" dt="0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19829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382003"/>
      </p:ext>
    </p:extLst>
  </p:cSld>
  <p:clrMapOvr>
    <a:masterClrMapping/>
  </p:clrMapOvr>
  <p:hf sldNum="0" hdr="0" ftr="0" dt="0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454459"/>
      </p:ext>
    </p:extLst>
  </p:cSld>
  <p:clrMapOvr>
    <a:masterClrMapping/>
  </p:clrMapOvr>
  <p:hf sldNum="0" hdr="0" ftr="0" dt="0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15295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46043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39801"/>
      </p:ext>
    </p:extLst>
  </p:cSld>
  <p:clrMapOvr>
    <a:masterClrMapping/>
  </p:clrMapOvr>
  <p:hf sldNum="0" hdr="0" ftr="0" dt="0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445325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147185"/>
      </p:ext>
    </p:extLst>
  </p:cSld>
  <p:clrMapOvr>
    <a:masterClrMapping/>
  </p:clrMapOvr>
  <p:hf sldNum="0" hdr="0" ftr="0" dt="0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322058"/>
      </p:ext>
    </p:extLst>
  </p:cSld>
  <p:clrMapOvr>
    <a:masterClrMapping/>
  </p:clrMapOvr>
  <p:hf sldNum="0" hdr="0" ftr="0" dt="0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05496875"/>
      </p:ext>
    </p:extLst>
  </p:cSld>
  <p:clrMapOvr>
    <a:masterClrMapping/>
  </p:clrMapOvr>
  <p:hf sldNum="0" hdr="0" ftr="0" dt="0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078889"/>
      </p:ext>
    </p:extLst>
  </p:cSld>
  <p:clrMapOvr>
    <a:masterClrMapping/>
  </p:clrMapOvr>
  <p:hf sldNum="0" hdr="0" ftr="0" dt="0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2427000"/>
      </p:ext>
    </p:extLst>
  </p:cSld>
  <p:clrMapOvr>
    <a:masterClrMapping/>
  </p:clrMapOvr>
  <p:hf sldNum="0" hdr="0" ftr="0" dt="0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222617"/>
      </p:ext>
    </p:extLst>
  </p:cSld>
  <p:clrMapOvr>
    <a:masterClrMapping/>
  </p:clrMapOvr>
  <p:hf sldNum="0" hdr="0" ftr="0" dt="0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453433"/>
      </p:ext>
    </p:extLst>
  </p:cSld>
  <p:clrMapOvr>
    <a:masterClrMapping/>
  </p:clrMapOvr>
  <p:hf sldNum="0" hdr="0" ftr="0" dt="0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117290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62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61.xml"/><Relationship Id="rId17" Type="http://schemas.openxmlformats.org/officeDocument/2006/relationships/slideLayout" Target="../slideLayouts/slideLayout66.xml"/><Relationship Id="rId2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65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59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6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slideLayout" Target="../slideLayouts/slideLayout90.xml"/><Relationship Id="rId18" Type="http://schemas.openxmlformats.org/officeDocument/2006/relationships/theme" Target="../theme/theme7.xml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89.xml"/><Relationship Id="rId17" Type="http://schemas.openxmlformats.org/officeDocument/2006/relationships/slideLayout" Target="../slideLayouts/slideLayout94.xml"/><Relationship Id="rId2" Type="http://schemas.openxmlformats.org/officeDocument/2006/relationships/slideLayout" Target="../slideLayouts/slideLayout79.xml"/><Relationship Id="rId16" Type="http://schemas.openxmlformats.org/officeDocument/2006/relationships/slideLayout" Target="../slideLayouts/slideLayout93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5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87.xml"/><Relationship Id="rId19" Type="http://schemas.openxmlformats.org/officeDocument/2006/relationships/image" Target="../media/image9.jpg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slideLayout" Target="../slideLayouts/slideLayout9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5242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03" r:id="rId6"/>
    <p:sldLayoutId id="2147483699" r:id="rId7"/>
    <p:sldLayoutId id="2147483700" r:id="rId8"/>
    <p:sldLayoutId id="2147483701" r:id="rId9"/>
    <p:sldLayoutId id="2147483702" r:id="rId10"/>
    <p:sldLayoutId id="2147483704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718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o-RO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o-RO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o-RO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o-RO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o-RO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o-RO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o-RO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o-RO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106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  <p:sldLayoutId id="2147483788" r:id="rId12"/>
    <p:sldLayoutId id="2147483789" r:id="rId13"/>
    <p:sldLayoutId id="2147483790" r:id="rId14"/>
    <p:sldLayoutId id="2147483791" r:id="rId15"/>
    <p:sldLayoutId id="2147483792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E31BA835-12AC-4E8F-955A-EA3F4DE2791F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83917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o-RO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31BA835-12AC-4E8F-955A-EA3F4DE2791F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422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  <p:sldLayoutId id="2147483829" r:id="rId12"/>
    <p:sldLayoutId id="2147483830" r:id="rId13"/>
    <p:sldLayoutId id="2147483831" r:id="rId14"/>
    <p:sldLayoutId id="2147483832" r:id="rId15"/>
    <p:sldLayoutId id="2147483833" r:id="rId16"/>
    <p:sldLayoutId id="2147483834" r:id="rId17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04F374-95D1-8B78-FFDE-B01736AF5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81DA5B-CAFE-8E4B-861D-80E978949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CA40E-83E4-05E1-DC9F-239EE3FDE9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A1714-E00B-471B-D840-B786F04E51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D26C8-B548-EB14-2F4C-6E1D33385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267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6" r:id="rId1"/>
    <p:sldLayoutId id="2147483837" r:id="rId2"/>
    <p:sldLayoutId id="2147483838" r:id="rId3"/>
    <p:sldLayoutId id="2147483839" r:id="rId4"/>
    <p:sldLayoutId id="2147483840" r:id="rId5"/>
    <p:sldLayoutId id="2147483841" r:id="rId6"/>
    <p:sldLayoutId id="2147483842" r:id="rId7"/>
    <p:sldLayoutId id="2147483843" r:id="rId8"/>
    <p:sldLayoutId id="2147483844" r:id="rId9"/>
    <p:sldLayoutId id="2147483845" r:id="rId10"/>
    <p:sldLayoutId id="214748384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o-RO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ro-RO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2"/>
                </a:gs>
                <a:gs pos="100000">
                  <a:schemeClr val="accent2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o-RO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7/25/2026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355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  <p:sldLayoutId id="2147483868" r:id="rId3"/>
    <p:sldLayoutId id="2147483869" r:id="rId4"/>
    <p:sldLayoutId id="2147483870" r:id="rId5"/>
    <p:sldLayoutId id="2147483871" r:id="rId6"/>
    <p:sldLayoutId id="2147483872" r:id="rId7"/>
    <p:sldLayoutId id="2147483873" r:id="rId8"/>
    <p:sldLayoutId id="2147483874" r:id="rId9"/>
    <p:sldLayoutId id="2147483875" r:id="rId10"/>
    <p:sldLayoutId id="2147483876" r:id="rId11"/>
    <p:sldLayoutId id="2147483877" r:id="rId12"/>
    <p:sldLayoutId id="2147483878" r:id="rId13"/>
    <p:sldLayoutId id="2147483879" r:id="rId14"/>
    <p:sldLayoutId id="2147483880" r:id="rId15"/>
    <p:sldLayoutId id="2147483881" r:id="rId16"/>
    <p:sldLayoutId id="2147483882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9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6.xml"/><Relationship Id="rId5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A0C824-8212-BF51-E8EF-A5B465E28D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1023521"/>
            <a:ext cx="5825448" cy="1097717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ro-RO" noProof="1"/>
              <a:t>Lucrare de licență </a:t>
            </a:r>
            <a:br>
              <a:rPr lang="ro-RO" b="1" noProof="1"/>
            </a:br>
            <a:br>
              <a:rPr lang="ro-RO" b="1" noProof="1"/>
            </a:br>
            <a:endParaRPr lang="ro-RO" noProof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365142-CEBF-140C-5F50-084A11DA4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89389" y="5781487"/>
            <a:ext cx="1410881" cy="810194"/>
          </a:xfrm>
        </p:spPr>
        <p:txBody>
          <a:bodyPr vert="horz" lIns="91440" tIns="45720" rIns="91440" bIns="45720" rtlCol="0" anchor="b">
            <a:normAutofit lnSpcReduction="10000"/>
          </a:bodyPr>
          <a:lstStyle/>
          <a:p>
            <a:r>
              <a:rPr lang="ro-RO" b="1" noProof="1"/>
              <a:t>Absolvent</a:t>
            </a:r>
          </a:p>
          <a:p>
            <a:r>
              <a:rPr lang="ro-RO" sz="1800" b="1" noProof="1"/>
              <a:t>Mihai Sima</a:t>
            </a:r>
          </a:p>
          <a:p>
            <a:endParaRPr lang="ro-RO" noProof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1ED04A-A37E-4F71-EE66-1571724C1A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149" r="6961" b="-1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467762B-D161-0E38-40DF-F62A2E25A1FF}"/>
              </a:ext>
            </a:extLst>
          </p:cNvPr>
          <p:cNvSpPr txBox="1"/>
          <p:nvPr/>
        </p:nvSpPr>
        <p:spPr>
          <a:xfrm>
            <a:off x="5573599" y="5374707"/>
            <a:ext cx="48767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o-RO" sz="2000" b="1" noProof="1"/>
              <a:t>Coordonator științific</a:t>
            </a:r>
            <a:endParaRPr lang="ro-RO" sz="2000" noProof="1"/>
          </a:p>
          <a:p>
            <a:pPr>
              <a:spcAft>
                <a:spcPts val="600"/>
              </a:spcAft>
            </a:pPr>
            <a:r>
              <a:rPr lang="ro-RO" b="1" noProof="1"/>
              <a:t>Lect. Dr. Ruxandra Marinescu-Ghemeci</a:t>
            </a:r>
            <a:endParaRPr lang="ro-RO" noProof="1"/>
          </a:p>
          <a:p>
            <a:pPr>
              <a:spcAft>
                <a:spcPts val="600"/>
              </a:spcAft>
            </a:pPr>
            <a:endParaRPr lang="ro-RO" noProof="1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E5DBC6-FAFD-9355-B7CF-07BD3B30D26A}"/>
              </a:ext>
            </a:extLst>
          </p:cNvPr>
          <p:cNvSpPr txBox="1"/>
          <p:nvPr/>
        </p:nvSpPr>
        <p:spPr>
          <a:xfrm>
            <a:off x="5487238" y="2254393"/>
            <a:ext cx="609432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ro-RO" sz="3600" b="1" noProof="1"/>
              <a:t>Platformă web adaptivă pentru evaluarea cunoștințelor în teoria grafurilor (GrInfo)</a:t>
            </a:r>
            <a:endParaRPr lang="ro-RO" sz="3600" noProof="1"/>
          </a:p>
        </p:txBody>
      </p:sp>
      <p:pic>
        <p:nvPicPr>
          <p:cNvPr id="14" name="image1.png">
            <a:extLst>
              <a:ext uri="{FF2B5EF4-FFF2-40B4-BE49-F238E27FC236}">
                <a16:creationId xmlns:a16="http://schemas.microsoft.com/office/drawing/2014/main" id="{56E09D0D-5375-1041-E3E8-E25E3BE000A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961776" y="84000"/>
            <a:ext cx="611823" cy="705039"/>
          </a:xfrm>
          <a:prstGeom prst="rect">
            <a:avLst/>
          </a:prstGeom>
        </p:spPr>
      </p:pic>
      <p:pic>
        <p:nvPicPr>
          <p:cNvPr id="15" name="image2.png">
            <a:extLst>
              <a:ext uri="{FF2B5EF4-FFF2-40B4-BE49-F238E27FC236}">
                <a16:creationId xmlns:a16="http://schemas.microsoft.com/office/drawing/2014/main" id="{C5043E5F-704C-21CD-7166-D6FF86A1E672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1505088" y="84000"/>
            <a:ext cx="611823" cy="70503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4B58A12-781B-1C76-B8E7-703DC67A2D3A}"/>
              </a:ext>
            </a:extLst>
          </p:cNvPr>
          <p:cNvSpPr txBox="1"/>
          <p:nvPr/>
        </p:nvSpPr>
        <p:spPr>
          <a:xfrm>
            <a:off x="7433186" y="43705"/>
            <a:ext cx="29496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1600" noProof="1"/>
              <a:t>Universitatea</a:t>
            </a:r>
            <a:r>
              <a:rPr lang="ro-RO" sz="1600" b="1" noProof="1"/>
              <a:t> </a:t>
            </a:r>
            <a:r>
              <a:rPr lang="ro-RO" sz="1600" noProof="1"/>
              <a:t>din București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E03C8F-C947-38E2-EDD2-48391F872593}"/>
              </a:ext>
            </a:extLst>
          </p:cNvPr>
          <p:cNvSpPr txBox="1"/>
          <p:nvPr/>
        </p:nvSpPr>
        <p:spPr>
          <a:xfrm>
            <a:off x="6695824" y="376634"/>
            <a:ext cx="4153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noProof="1"/>
              <a:t>Facultatea de Matematică și Informatică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A9C864-84F1-8E9C-65FA-7B147F3A4073}"/>
              </a:ext>
            </a:extLst>
          </p:cNvPr>
          <p:cNvSpPr txBox="1"/>
          <p:nvPr/>
        </p:nvSpPr>
        <p:spPr>
          <a:xfrm>
            <a:off x="7610240" y="6399317"/>
            <a:ext cx="23246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noProof="1"/>
              <a:t>București, iunie 2026</a:t>
            </a:r>
          </a:p>
          <a:p>
            <a:endParaRPr lang="ro-RO" noProof="1"/>
          </a:p>
        </p:txBody>
      </p:sp>
    </p:spTree>
    <p:extLst>
      <p:ext uri="{BB962C8B-B14F-4D97-AF65-F5344CB8AC3E}">
        <p14:creationId xmlns:p14="http://schemas.microsoft.com/office/powerpoint/2010/main" val="602507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randomBar dir="vert"/>
      </p:transition>
    </mc:Choice>
    <mc:Fallback xmlns="">
      <p:transition spd="slow">
        <p:randomBar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28F7E24-D69A-8497-D62F-5E8A5D3FEC22}"/>
              </a:ext>
            </a:extLst>
          </p:cNvPr>
          <p:cNvSpPr txBox="1"/>
          <p:nvPr/>
        </p:nvSpPr>
        <p:spPr>
          <a:xfrm>
            <a:off x="517294" y="971428"/>
            <a:ext cx="5332900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o-RO" sz="4600" noProof="1">
                <a:latin typeface="+mj-lt"/>
                <a:ea typeface="+mj-ea"/>
                <a:cs typeface="+mj-cs"/>
              </a:rPr>
              <a:t>Motivația dezvoltării platformei   GrInfo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3B92AC-FEE8-938D-C954-3FD1F1377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6270" y="3302409"/>
            <a:ext cx="4449653" cy="30197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58E48A4-DF33-818D-91C0-BF78D4CCB5EC}"/>
              </a:ext>
            </a:extLst>
          </p:cNvPr>
          <p:cNvSpPr txBox="1"/>
          <p:nvPr/>
        </p:nvSpPr>
        <p:spPr>
          <a:xfrm>
            <a:off x="6583252" y="971428"/>
            <a:ext cx="4532671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algn="just" defTabSz="914400">
              <a:lnSpc>
                <a:spcPct val="90000"/>
              </a:lnSpc>
              <a:spcAft>
                <a:spcPts val="600"/>
              </a:spcAft>
            </a:pPr>
            <a:r>
              <a:rPr lang="ro-RO" sz="1700" b="1" noProof="1"/>
              <a:t>De ce Teoria Grafurilor?</a:t>
            </a:r>
          </a:p>
          <a:p>
            <a:pPr indent="-228600" algn="just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o-RO" sz="1700" noProof="1"/>
              <a:t>capitol fundamental în algoritmică și informatică; </a:t>
            </a:r>
          </a:p>
          <a:p>
            <a:pPr indent="-228600" algn="just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o-RO" sz="1700" noProof="1"/>
              <a:t>utilizată frecvent în examene, concursuri și interviuri tehnice; </a:t>
            </a:r>
          </a:p>
          <a:p>
            <a:pPr indent="-228600" algn="just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o-RO" sz="1700" noProof="1"/>
              <a:t>necesită atât înțelegerea conceptelor, cât și exersare constantă.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C3E4649-B184-0DA1-7BFA-8B4130212C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4769109"/>
              </p:ext>
            </p:extLst>
          </p:nvPr>
        </p:nvGraphicFramePr>
        <p:xfrm>
          <a:off x="629265" y="3302411"/>
          <a:ext cx="5220929" cy="3028752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2606617">
                  <a:extLst>
                    <a:ext uri="{9D8B030D-6E8A-4147-A177-3AD203B41FA5}">
                      <a16:colId xmlns:a16="http://schemas.microsoft.com/office/drawing/2014/main" val="4240646722"/>
                    </a:ext>
                  </a:extLst>
                </a:gridCol>
                <a:gridCol w="2614312">
                  <a:extLst>
                    <a:ext uri="{9D8B030D-6E8A-4147-A177-3AD203B41FA5}">
                      <a16:colId xmlns:a16="http://schemas.microsoft.com/office/drawing/2014/main" val="2928816148"/>
                    </a:ext>
                  </a:extLst>
                </a:gridCol>
              </a:tblGrid>
              <a:tr h="4659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sz="1600" b="1" cap="none" spc="0" noProof="1">
                          <a:solidFill>
                            <a:schemeClr val="tx1"/>
                          </a:solidFill>
                        </a:rPr>
                        <a:t>Problema</a:t>
                      </a:r>
                      <a:endParaRPr lang="ro-RO" sz="1600" cap="none" spc="0" noProof="1">
                        <a:solidFill>
                          <a:schemeClr val="tx1"/>
                        </a:solidFill>
                      </a:endParaRPr>
                    </a:p>
                  </a:txBody>
                  <a:tcPr marL="139086" marR="89202" marT="106989" marB="10698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sz="1600" b="1" cap="none" spc="0" noProof="1">
                          <a:solidFill>
                            <a:schemeClr val="tx1"/>
                          </a:solidFill>
                        </a:rPr>
                        <a:t>Soluția GrInfo</a:t>
                      </a:r>
                      <a:endParaRPr lang="ro-RO" sz="1600" cap="none" spc="0" noProof="1">
                        <a:solidFill>
                          <a:schemeClr val="tx1"/>
                        </a:solidFill>
                      </a:endParaRPr>
                    </a:p>
                  </a:txBody>
                  <a:tcPr marL="139086" marR="89202" marT="106989" marB="10698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944932"/>
                  </a:ext>
                </a:extLst>
              </a:tr>
              <a:tr h="616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sz="1400" cap="none" spc="0" noProof="1">
                          <a:solidFill>
                            <a:schemeClr val="tx1"/>
                          </a:solidFill>
                        </a:rPr>
                        <a:t>Evaluare statică, aceeași dificultate pentru toți</a:t>
                      </a:r>
                    </a:p>
                  </a:txBody>
                  <a:tcPr marL="139086" marR="89202" marT="106989" marB="10698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sz="1400" cap="none" spc="0" noProof="1">
                          <a:solidFill>
                            <a:schemeClr val="tx1"/>
                          </a:solidFill>
                        </a:rPr>
                        <a:t>Quiz-uri adaptive bazate pe algoritmul </a:t>
                      </a:r>
                      <a:r>
                        <a:rPr lang="ro-RO" sz="1400" b="0" cap="none" spc="0" noProof="1">
                          <a:solidFill>
                            <a:schemeClr val="tx1"/>
                          </a:solidFill>
                        </a:rPr>
                        <a:t>ELO</a:t>
                      </a:r>
                    </a:p>
                  </a:txBody>
                  <a:tcPr marL="139086" marR="89202" marT="106989" marB="10698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832318"/>
                  </a:ext>
                </a:extLst>
              </a:tr>
              <a:tr h="616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sz="1400" cap="none" spc="0" noProof="1">
                          <a:solidFill>
                            <a:schemeClr val="tx1"/>
                          </a:solidFill>
                        </a:rPr>
                        <a:t>Feedback limitat la răspuns corect/greșit</a:t>
                      </a:r>
                    </a:p>
                  </a:txBody>
                  <a:tcPr marL="139086" marR="89202" marT="106989" marB="10698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sz="1400" cap="none" spc="0" noProof="1">
                          <a:solidFill>
                            <a:schemeClr val="tx1"/>
                          </a:solidFill>
                        </a:rPr>
                        <a:t>Analiză și explicații personalizate cu </a:t>
                      </a:r>
                      <a:r>
                        <a:rPr lang="ro-RO" sz="1400" b="0" cap="none" spc="0" noProof="1">
                          <a:solidFill>
                            <a:schemeClr val="tx1"/>
                          </a:solidFill>
                        </a:rPr>
                        <a:t>AI</a:t>
                      </a:r>
                    </a:p>
                  </a:txBody>
                  <a:tcPr marL="139086" marR="89202" marT="106989" marB="10698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961481"/>
                  </a:ext>
                </a:extLst>
              </a:tr>
              <a:tr h="616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sz="1400" cap="none" spc="0" noProof="1">
                          <a:solidFill>
                            <a:schemeClr val="tx1"/>
                          </a:solidFill>
                        </a:rPr>
                        <a:t>Progres dificil de urmărit</a:t>
                      </a:r>
                    </a:p>
                  </a:txBody>
                  <a:tcPr marL="139086" marR="89202" marT="106989" marB="10698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sz="1400" cap="none" spc="0" noProof="1">
                          <a:solidFill>
                            <a:schemeClr val="tx1"/>
                          </a:solidFill>
                        </a:rPr>
                        <a:t>Dashboard, statistici și evoluția scorului ELO</a:t>
                      </a:r>
                    </a:p>
                  </a:txBody>
                  <a:tcPr marL="139086" marR="89202" marT="106989" marB="10698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765922"/>
                  </a:ext>
                </a:extLst>
              </a:tr>
              <a:tr h="6163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sz="1400" cap="none" spc="0" noProof="1">
                          <a:solidFill>
                            <a:schemeClr val="tx1"/>
                          </a:solidFill>
                        </a:rPr>
                        <a:t>Interacțiune redusă cu problemele pe grafuri</a:t>
                      </a:r>
                    </a:p>
                  </a:txBody>
                  <a:tcPr marL="139086" marR="89202" marT="106989" marB="106989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o-RO" sz="1400" cap="none" spc="0" noProof="1">
                          <a:solidFill>
                            <a:schemeClr val="tx1"/>
                          </a:solidFill>
                        </a:rPr>
                        <a:t>Vizualizare interactivă a grafurilor și Scratchpad</a:t>
                      </a:r>
                    </a:p>
                  </a:txBody>
                  <a:tcPr marL="139086" marR="89202" marT="106989" marB="106989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1977348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F25A168-2213-ED01-904F-15E680572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502" y="2189793"/>
            <a:ext cx="459646" cy="47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946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ircle/>
      </p:transition>
    </mc:Choice>
    <mc:Fallback xmlns=""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ocker Icon SVG Vector &amp; PNG Free Download | UXWing">
            <a:extLst>
              <a:ext uri="{FF2B5EF4-FFF2-40B4-BE49-F238E27FC236}">
                <a16:creationId xmlns:a16="http://schemas.microsoft.com/office/drawing/2014/main" id="{73B479F2-F277-3981-75D9-9D5ABDD7A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833" y="5042656"/>
            <a:ext cx="744548" cy="575795"/>
          </a:xfrm>
          <a:prstGeom prst="rect">
            <a:avLst/>
          </a:prstGeom>
        </p:spPr>
      </p:pic>
      <p:pic>
        <p:nvPicPr>
          <p:cNvPr id="3" name="Picture 2" descr="File:PostgreSQL logo.3colors.svg">
            <a:extLst>
              <a:ext uri="{FF2B5EF4-FFF2-40B4-BE49-F238E27FC236}">
                <a16:creationId xmlns:a16="http://schemas.microsoft.com/office/drawing/2014/main" id="{E8C02424-8555-4F7B-8371-229902AFB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529" y="4314008"/>
            <a:ext cx="671156" cy="639829"/>
          </a:xfrm>
          <a:prstGeom prst="rect">
            <a:avLst/>
          </a:prstGeom>
        </p:spPr>
      </p:pic>
      <p:pic>
        <p:nvPicPr>
          <p:cNvPr id="5" name="Picture 4" descr="The Go Programming Language">
            <a:extLst>
              <a:ext uri="{FF2B5EF4-FFF2-40B4-BE49-F238E27FC236}">
                <a16:creationId xmlns:a16="http://schemas.microsoft.com/office/drawing/2014/main" id="{8AED8FB2-60F3-5C7B-9E97-0AD6FE8584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924" y="3192863"/>
            <a:ext cx="1075508" cy="950826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C3A0F7C-4F9E-7B00-5736-DE3AA35707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649356"/>
              </p:ext>
            </p:extLst>
          </p:nvPr>
        </p:nvGraphicFramePr>
        <p:xfrm>
          <a:off x="666732" y="1718101"/>
          <a:ext cx="8394290" cy="4171421"/>
        </p:xfrm>
        <a:graphic>
          <a:graphicData uri="http://schemas.openxmlformats.org/drawingml/2006/table">
            <a:tbl>
              <a:tblPr firstRow="1">
                <a:tableStyleId>{5A111915-BE36-4E01-A7E5-04B1672EAD32}</a:tableStyleId>
              </a:tblPr>
              <a:tblGrid>
                <a:gridCol w="4197145">
                  <a:extLst>
                    <a:ext uri="{9D8B030D-6E8A-4147-A177-3AD203B41FA5}">
                      <a16:colId xmlns:a16="http://schemas.microsoft.com/office/drawing/2014/main" val="4101960361"/>
                    </a:ext>
                  </a:extLst>
                </a:gridCol>
                <a:gridCol w="4197145">
                  <a:extLst>
                    <a:ext uri="{9D8B030D-6E8A-4147-A177-3AD203B41FA5}">
                      <a16:colId xmlns:a16="http://schemas.microsoft.com/office/drawing/2014/main" val="1585945289"/>
                    </a:ext>
                  </a:extLst>
                </a:gridCol>
              </a:tblGrid>
              <a:tr h="4390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noProof="1"/>
                        <a:t>Tehnologie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noProof="1"/>
                        <a:t>De ce a fost aleasă?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2324606"/>
                  </a:ext>
                </a:extLst>
              </a:tr>
              <a:tr h="9330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b="1" noProof="1"/>
                        <a:t>React (Vite)</a:t>
                      </a:r>
                      <a:endParaRPr lang="ro-RO" noProof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500" noProof="1"/>
                        <a:t>Interfață dinamică, actualizarea rapidă a componentelor (dashboard statistici) și o experiență fluidă pentru utilizator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6370207"/>
                  </a:ext>
                </a:extLst>
              </a:tr>
              <a:tr h="9330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b="1" noProof="1"/>
                        <a:t>Go</a:t>
                      </a:r>
                      <a:endParaRPr lang="ro-RO" noProof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500" noProof="1"/>
                        <a:t>Backend performant cu suport excelent pentru concurență și API-uri REST. Structură simplă și consum redus de resurse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4111403"/>
                  </a:ext>
                </a:extLst>
              </a:tr>
              <a:tr h="9330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b="1" noProof="1"/>
                        <a:t>PostgreSQL</a:t>
                      </a:r>
                      <a:endParaRPr lang="ro-RO" noProof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500" noProof="1"/>
                        <a:t>Bază de date stabilă, suport pentru integritate referențială și tipul JSONB necesar stocării structurilor de graf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9142614"/>
                  </a:ext>
                </a:extLst>
              </a:tr>
              <a:tr h="9330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o-RO" b="1" noProof="1"/>
                        <a:t>    Docker Compose</a:t>
                      </a:r>
                      <a:endParaRPr lang="ro-RO" noProof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ro-RO" sz="1500" noProof="1"/>
                        <a:t>Configurează și pornește toate serviciile într-un mediu identic, simplificând dezvoltarea și rularea aplicației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7471141"/>
                  </a:ext>
                </a:extLst>
              </a:tr>
            </a:tbl>
          </a:graphicData>
        </a:graphic>
      </p:graphicFrame>
      <p:pic>
        <p:nvPicPr>
          <p:cNvPr id="4" name="Picture 3" descr="React (software) - Wikipedia">
            <a:extLst>
              <a:ext uri="{FF2B5EF4-FFF2-40B4-BE49-F238E27FC236}">
                <a16:creationId xmlns:a16="http://schemas.microsoft.com/office/drawing/2014/main" id="{3CA65411-9476-B3C6-DE07-95816B10C6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9973" y="2327187"/>
            <a:ext cx="729712" cy="695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609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flythroug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4000"/>
                <a:shade val="98000"/>
                <a:satMod val="130000"/>
                <a:lumMod val="102000"/>
              </a:schemeClr>
            </a:gs>
            <a:gs pos="100000">
              <a:schemeClr val="bg1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B0F74F9-E373-4883-A533-C80C53DE6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65FFFB-1163-4DA7-83B0-B8677ABBC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00A7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117A05-2F4F-4370-A926-6191A5C3D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B11182-9B00-9CFB-96FD-C5A04F44A8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14751" y="766916"/>
            <a:ext cx="8563545" cy="5358581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085F62-CAFE-CEDE-92DF-D6BEDA377732}"/>
              </a:ext>
            </a:extLst>
          </p:cNvPr>
          <p:cNvSpPr txBox="1"/>
          <p:nvPr/>
        </p:nvSpPr>
        <p:spPr>
          <a:xfrm>
            <a:off x="7790127" y="2183498"/>
            <a:ext cx="375840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o-RO" noProof="1">
                <a:solidFill>
                  <a:schemeClr val="bg1"/>
                </a:solidFill>
              </a:rPr>
              <a:t>Platforma este organizată pe o arhitectură client-server. React gestionează interfața, backend-ul în Go implementează logica aplicației, PostgreSQL asigură persistența datelor, iar Google Gemini este utilizat exclusiv pentru generarea feedback-ului personalizat.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3E1DE0-6FA1-D091-D6A5-3D0164646F4A}"/>
              </a:ext>
            </a:extLst>
          </p:cNvPr>
          <p:cNvSpPr txBox="1"/>
          <p:nvPr/>
        </p:nvSpPr>
        <p:spPr>
          <a:xfrm>
            <a:off x="7790127" y="1328752"/>
            <a:ext cx="3469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400" b="1" noProof="1">
                <a:solidFill>
                  <a:schemeClr val="bg1"/>
                </a:solidFill>
              </a:rPr>
              <a:t>Diagrama Container</a:t>
            </a:r>
          </a:p>
        </p:txBody>
      </p:sp>
    </p:spTree>
    <p:extLst>
      <p:ext uri="{BB962C8B-B14F-4D97-AF65-F5344CB8AC3E}">
        <p14:creationId xmlns:p14="http://schemas.microsoft.com/office/powerpoint/2010/main" val="4758942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41FBCF1-A49E-2D1D-8536-1E562B463E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3503" y="1759974"/>
            <a:ext cx="9496892" cy="453714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91932B-82C6-EBF6-0C2D-316AC8F2E580}"/>
              </a:ext>
            </a:extLst>
          </p:cNvPr>
          <p:cNvSpPr txBox="1"/>
          <p:nvPr/>
        </p:nvSpPr>
        <p:spPr>
          <a:xfrm>
            <a:off x="1281605" y="794144"/>
            <a:ext cx="98083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2800" noProof="1"/>
              <a:t>Diagrama de cazuri de utilizare și fluxul operațional al utilizatorului</a:t>
            </a:r>
          </a:p>
        </p:txBody>
      </p:sp>
    </p:spTree>
    <p:extLst>
      <p:ext uri="{BB962C8B-B14F-4D97-AF65-F5344CB8AC3E}">
        <p14:creationId xmlns:p14="http://schemas.microsoft.com/office/powerpoint/2010/main" val="1860499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DFB5D1BB-0703-437B-BD1E-1D07F8A27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886586B-3F0F-4593-B272-AE75AD0F0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20DEB59-BF94-41B5-8F16-8B10442EE0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o-RO" noProof="1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A3BEF6F-FC03-43B1-8D1B-8DA3A360D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F49BA32-A501-4C79-9A72-92587AB9EE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83F92AF-2403-4558-B1D7-72130A1E4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2AC0F86-9A78-4E84-A4B4-ADB8B2629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AF78B9E-8BE2-4706-9377-A05FA25AB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32CDFDE2-4DB3-4623-BA21-187D1B710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D74B2AA-1443-4E9B-8462-F7F5B8525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ro-RO" noProof="1"/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9BB652B6-7300-49EC-9422-EF5342492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D0909587-01DE-424D-A15F-DAA28CF2C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F1D42D2-D57D-6B0C-133B-6F6D8B678740}"/>
              </a:ext>
            </a:extLst>
          </p:cNvPr>
          <p:cNvSpPr txBox="1"/>
          <p:nvPr/>
        </p:nvSpPr>
        <p:spPr>
          <a:xfrm>
            <a:off x="7372080" y="1104900"/>
            <a:ext cx="3981784" cy="13038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o-RO" sz="3700" b="1" noProof="1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Interfața quiz-ului adaptiv</a:t>
            </a:r>
            <a:r>
              <a:rPr lang="ro-RO" sz="3700" noProof="1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9A54E25-1C05-48E5-A5CC-3778C1D363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3" y="1092200"/>
            <a:ext cx="5942687" cy="451510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E5D0023-B23E-4823-8D72-B07FFF8CA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20089" y="2400639"/>
            <a:ext cx="337650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7B7E6E6-663D-CB78-D581-537BE040992B}"/>
              </a:ext>
            </a:extLst>
          </p:cNvPr>
          <p:cNvSpPr txBox="1"/>
          <p:nvPr/>
        </p:nvSpPr>
        <p:spPr>
          <a:xfrm>
            <a:off x="7535824" y="2556932"/>
            <a:ext cx="3360771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ro-RO" noProof="1"/>
              <a:t>Pentru întrebările care implică grafuri, aplicația afișează automat reprezentarea acestora folosind biblioteca VIS Network, ceea ce facilitează înțelegerea cerinței.</a:t>
            </a:r>
            <a:endParaRPr lang="ro-RO" b="1" noProof="1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285750" indent="-228600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ro-RO" noProof="1">
                <a:solidFill>
                  <a:schemeClr val="tx1">
                    <a:lumMod val="85000"/>
                    <a:lumOff val="15000"/>
                  </a:schemeClr>
                </a:solidFill>
              </a:rPr>
              <a:t>Scratchpad integrat care </a:t>
            </a:r>
            <a:r>
              <a:rPr lang="ro-RO" noProof="1"/>
              <a:t>permite utilizatorului să își noteze idei sau pași intermediari fără a părăsi pagina de evaluare.</a:t>
            </a:r>
            <a:endParaRPr lang="ro-RO" noProof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9525CA-CC12-1C79-300D-766A051AAC55}"/>
              </a:ext>
            </a:extLst>
          </p:cNvPr>
          <p:cNvSpPr txBox="1"/>
          <p:nvPr/>
        </p:nvSpPr>
        <p:spPr>
          <a:xfrm>
            <a:off x="5894962" y="1984443"/>
            <a:ext cx="5458838" cy="4192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ro-RO" noProof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348C31-4629-7783-63FC-1D3ED0010F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2516" y="1098994"/>
            <a:ext cx="5942813" cy="443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435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:dissolve/>
      </p:transition>
    </mc:Choice>
    <mc:Fallback xmlns="">
      <p:transition spd="slow">
        <p:dissolv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6F9712-256F-69E3-4553-6E7F6F179A79}"/>
              </a:ext>
            </a:extLst>
          </p:cNvPr>
          <p:cNvSpPr txBox="1"/>
          <p:nvPr/>
        </p:nvSpPr>
        <p:spPr>
          <a:xfrm>
            <a:off x="1382513" y="917209"/>
            <a:ext cx="10687812" cy="7981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spcBef>
                <a:spcPct val="0"/>
              </a:spcBef>
              <a:spcAft>
                <a:spcPts val="600"/>
              </a:spcAft>
            </a:pPr>
            <a:r>
              <a:rPr lang="ro-RO" sz="4000" cap="all" spc="30" noProof="1">
                <a:latin typeface="+mj-lt"/>
                <a:ea typeface="+mj-ea"/>
                <a:cs typeface="+mj-cs"/>
              </a:rPr>
              <a:t>Mecanismul de evaluare adaptivă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FACBDB28-4B2E-1B17-0757-FFBAFF3F4E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0100" y="2192595"/>
            <a:ext cx="6072188" cy="3816468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1C176B-FE1F-7EBA-23F3-B3B3F6EBEF10}"/>
              </a:ext>
            </a:extLst>
          </p:cNvPr>
          <p:cNvSpPr txBox="1"/>
          <p:nvPr/>
        </p:nvSpPr>
        <p:spPr>
          <a:xfrm>
            <a:off x="7200899" y="1715403"/>
            <a:ext cx="4191001" cy="41396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285750" indent="-228600" defTabSz="9144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o-RO" noProof="1"/>
              <a:t>Dificultatea inițială este stabilită în funcție de scorul ELO.</a:t>
            </a:r>
          </a:p>
          <a:p>
            <a:pPr marL="285750" indent="-228600" defTabSz="9144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o-RO" noProof="1"/>
              <a:t> Răspunsurile corecte și greșite influențează nivelul întrebărilor următoare. </a:t>
            </a:r>
          </a:p>
          <a:p>
            <a:pPr marL="285750" indent="-228600" defTabSz="9144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o-RO" noProof="1"/>
              <a:t>Scopul este menținerea unui nivel constant de provocare.</a:t>
            </a:r>
          </a:p>
          <a:p>
            <a:pPr marL="285750" indent="-228600" defTabSz="9144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o-RO" noProof="1"/>
              <a:t> Platforma evită atât întrebările prea ușoare, cât și cele prea dificile, ceea ce face procesul de învățare mai echilibrat și mai motivant.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908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sh dir="u"/>
      </p:transition>
    </mc:Choice>
    <mc:Fallback xmlns="">
      <p:transition spd="slow">
        <p:push dir="u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80AF8E-7687-6AF5-12B8-D3BFFA17F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CE0A68D-28EF-49D9-B84B-5DAB38714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C49810-F17F-7B29-35EA-1B1941A71D80}"/>
              </a:ext>
            </a:extLst>
          </p:cNvPr>
          <p:cNvSpPr txBox="1"/>
          <p:nvPr/>
        </p:nvSpPr>
        <p:spPr>
          <a:xfrm>
            <a:off x="1098897" y="5104228"/>
            <a:ext cx="5447071" cy="166399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ro-RO" sz="4000" kern="1200" noProof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rPr>
              <a:t>Feedback personalizat cu AI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8905D9-FFD3-AA0D-A861-485F127DAF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22555" y="688258"/>
            <a:ext cx="5599756" cy="4218039"/>
          </a:xfrm>
          <a:prstGeom prst="rect">
            <a:avLst/>
          </a:prstGeom>
          <a:noFill/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1FA0C3DC-24DE-44E3-9D41-CAA5F3B20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16208" y="0"/>
            <a:ext cx="4775791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AA5904-22C5-F6DC-FB2B-990AABBF3748}"/>
              </a:ext>
            </a:extLst>
          </p:cNvPr>
          <p:cNvSpPr txBox="1"/>
          <p:nvPr/>
        </p:nvSpPr>
        <p:spPr>
          <a:xfrm>
            <a:off x="8266814" y="818707"/>
            <a:ext cx="3551560" cy="5310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ro-RO" sz="2000" b="1" noProof="1">
                <a:solidFill>
                  <a:srgbClr val="595959"/>
                </a:solidFill>
              </a:rPr>
              <a:t>Google Gemini Flash 2.5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ro-RO" sz="2000" b="1" noProof="1">
              <a:solidFill>
                <a:srgbClr val="595959"/>
              </a:solidFill>
            </a:endParaRP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o-RO" sz="2000" noProof="1">
                <a:solidFill>
                  <a:srgbClr val="595959"/>
                </a:solidFill>
              </a:rPr>
              <a:t>Analizează răspunsurile greșite ale utilizatorului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o-RO" sz="2000" noProof="1">
                <a:solidFill>
                  <a:srgbClr val="595959"/>
                </a:solidFill>
              </a:rPr>
              <a:t>Primește contextul întrebărilor și variantele corecte 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o-RO" sz="2000" noProof="1">
                <a:solidFill>
                  <a:srgbClr val="595959"/>
                </a:solidFill>
              </a:rPr>
              <a:t>Generează explicații și recomandări personalizate, iar rezultatul este afișat direct în interfață 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o-RO" sz="2000" noProof="1">
                <a:solidFill>
                  <a:srgbClr val="595959"/>
                </a:solidFill>
              </a:rPr>
              <a:t>Astfel, utilizatorul nu vede doar ce a greșit, ci primește și îndrumări care îl ajută să înțeleagă mai bine conceptele</a:t>
            </a:r>
          </a:p>
        </p:txBody>
      </p:sp>
    </p:spTree>
    <p:extLst>
      <p:ext uri="{BB962C8B-B14F-4D97-AF65-F5344CB8AC3E}">
        <p14:creationId xmlns:p14="http://schemas.microsoft.com/office/powerpoint/2010/main" val="2049612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ll/>
      </p:transition>
    </mc:Choice>
    <mc:Fallback xmlns="">
      <p:transition spd="slow">
        <p:pull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B218BC-5FC1-5724-B63B-FF37EBD0F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69D184B2-2226-4E31-BCCB-444330767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o-RO" noProof="1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1AC4D4E3-486A-464A-8EC8-D44881097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o-RO" noProof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4DE13E-58EB-4475-B79C-0D4FC65123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o-RO" noProof="1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2E9B2EE-76CA-47F3-9977-3F2FCB7FD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739239"/>
            <a:ext cx="0" cy="320040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699C15F-096B-668D-F437-9A8F845F6D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434" y="3339439"/>
            <a:ext cx="4644528" cy="15326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8DABDB-B6D6-0701-FE76-37E3E66F4478}"/>
              </a:ext>
            </a:extLst>
          </p:cNvPr>
          <p:cNvSpPr txBox="1"/>
          <p:nvPr/>
        </p:nvSpPr>
        <p:spPr>
          <a:xfrm>
            <a:off x="3604642" y="5342902"/>
            <a:ext cx="515726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3000" noProof="1"/>
              <a:t>Alte elemente de gamificare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523B36-879C-936C-1C1F-F702FE0CF0AF}"/>
              </a:ext>
            </a:extLst>
          </p:cNvPr>
          <p:cNvSpPr txBox="1"/>
          <p:nvPr/>
        </p:nvSpPr>
        <p:spPr>
          <a:xfrm>
            <a:off x="1376427" y="1207043"/>
            <a:ext cx="428699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o-RO" b="1" noProof="1"/>
              <a:t>			Dashboard</a:t>
            </a:r>
          </a:p>
          <a:p>
            <a:pPr>
              <a:buNone/>
            </a:pPr>
            <a:endParaRPr lang="ro-RO" b="1" noProof="1"/>
          </a:p>
          <a:p>
            <a:pPr>
              <a:buFont typeface="Arial" panose="020B0604020202020204" pitchFamily="34" charset="0"/>
              <a:buChar char="•"/>
            </a:pPr>
            <a:r>
              <a:rPr lang="ro-RO" noProof="1"/>
              <a:t> Vizualizarea indicatorilor principali (ELO, acuratețe, sesiuni)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noProof="1"/>
              <a:t> Statistici personale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noProof="1"/>
              <a:t> Monitorizarea performanței în timp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EE36DD-FE0E-A722-0F18-2359CB009CF3}"/>
              </a:ext>
            </a:extLst>
          </p:cNvPr>
          <p:cNvSpPr txBox="1"/>
          <p:nvPr/>
        </p:nvSpPr>
        <p:spPr>
          <a:xfrm>
            <a:off x="6401464" y="1174677"/>
            <a:ext cx="464452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o-RO" b="1" noProof="1"/>
              <a:t>			Grafic ELO</a:t>
            </a:r>
          </a:p>
          <a:p>
            <a:pPr>
              <a:buNone/>
            </a:pPr>
            <a:endParaRPr lang="ro-RO" b="1" noProof="1"/>
          </a:p>
          <a:p>
            <a:pPr>
              <a:buFont typeface="Arial" panose="020B0604020202020204" pitchFamily="34" charset="0"/>
              <a:buChar char="•"/>
            </a:pPr>
            <a:r>
              <a:rPr lang="ro-RO" noProof="1"/>
              <a:t> Istoricul scorului ELO după fiecare sesiune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noProof="1"/>
              <a:t> Realizat cu </a:t>
            </a:r>
            <a:r>
              <a:rPr lang="ro-RO" b="1" noProof="1"/>
              <a:t>Chart.js (react-chartjs-2)</a:t>
            </a:r>
            <a:r>
              <a:rPr lang="ro-RO" noProof="1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noProof="1"/>
              <a:t> Vizualizare: ultimele 10 sesiuni sau întregul istoric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06ABB6-95B5-173A-74B5-86E9E9AFC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963" y="3222857"/>
            <a:ext cx="4358267" cy="1716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536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A2CD19-D0AC-7BB6-4FC1-B66581A444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903" y="676146"/>
            <a:ext cx="4882271" cy="602610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86E9AC-07C6-8226-0B8C-3ECC8F0C66CF}"/>
              </a:ext>
            </a:extLst>
          </p:cNvPr>
          <p:cNvSpPr txBox="1"/>
          <p:nvPr/>
        </p:nvSpPr>
        <p:spPr>
          <a:xfrm>
            <a:off x="5909187" y="1443647"/>
            <a:ext cx="5860026" cy="4491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7025" marR="155575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200" noProof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USERS - informațiile asociate conturilor utilizatorilor, inclusiv datele de autentificare și scorul ELO curent. Parolele salvate - &gt; hash-uri, nivelul estimat al utilizatorului </a:t>
            </a:r>
            <a:r>
              <a:rPr lang="ro-RO" sz="1200" noProof="1"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ro-RO" sz="1200" noProof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ctualizat pe parcursul sesiunilor de evaluare.</a:t>
            </a:r>
          </a:p>
          <a:p>
            <a:pPr marL="327025" marR="155575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200" noProof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GRINFO_SESSIONS - fiecare sesiune de testare desfășurată în cadrul platformei. Pentru fiecare încercare sunt memorate informații precum scorul ELO inițial și final, numărul de răspunsuri corecte și totalul întrebărilor parcurse.</a:t>
            </a:r>
          </a:p>
          <a:p>
            <a:pPr marL="327025" marR="155575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200" noProof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GRINFO_QUESTIONS - conține cerințele utilizate în evaluare, categoria acestora, nivelul de dificultate și rating-ul ELO asociat fiecărei întrebări. În cazul exercițiilor care implică reprezentarea unui graf, structura acestuia este stocată în format JSONB.</a:t>
            </a:r>
          </a:p>
          <a:p>
            <a:pPr marL="327025" marR="155575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200" noProof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GRINFO_QUESTION_OPTIONS - variantele de răspuns asociate fiecărei întrebări și informația necesară identificării variantei corecte.</a:t>
            </a:r>
          </a:p>
          <a:p>
            <a:pPr marL="327025" marR="155575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200" noProof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GRINFO_SESSION_ANSWERS - înregistrează întrebarea parcursă, răspunsul selectat și valorile scorului ELO înainte și după procesarea răspunsului.</a:t>
            </a:r>
          </a:p>
          <a:p>
            <a:pPr marL="327025" marR="155575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200" noProof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REVIEWS - feedback oferit de utilizatori după utilizarea platformei, incluzând atât evaluări de la 1 la 5 stele, cât și comentarii textuale.</a:t>
            </a:r>
          </a:p>
        </p:txBody>
      </p:sp>
    </p:spTree>
    <p:extLst>
      <p:ext uri="{BB962C8B-B14F-4D97-AF65-F5344CB8AC3E}">
        <p14:creationId xmlns:p14="http://schemas.microsoft.com/office/powerpoint/2010/main" val="2019875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638F0-ED33-2A61-852D-B3A7B3A78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877D9F-4065-C618-987E-699DD1B51056}"/>
              </a:ext>
            </a:extLst>
          </p:cNvPr>
          <p:cNvSpPr txBox="1"/>
          <p:nvPr/>
        </p:nvSpPr>
        <p:spPr>
          <a:xfrm>
            <a:off x="2883612" y="5709732"/>
            <a:ext cx="61836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sz="3600" noProof="1"/>
              <a:t>Vă mulțumesc pentru atenție 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F0D833-5BBF-EE23-3DC0-068BF8E574A9}"/>
              </a:ext>
            </a:extLst>
          </p:cNvPr>
          <p:cNvSpPr txBox="1"/>
          <p:nvPr/>
        </p:nvSpPr>
        <p:spPr>
          <a:xfrm>
            <a:off x="533702" y="735083"/>
            <a:ext cx="101615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o-RO" b="1" noProof="1">
                <a:latin typeface="Amasis MT Pro Medium" panose="020F0502020204030204" pitchFamily="18" charset="0"/>
              </a:rPr>
              <a:t>Concluzii</a:t>
            </a:r>
          </a:p>
          <a:p>
            <a:pPr>
              <a:buNone/>
            </a:pPr>
            <a:endParaRPr lang="ro-RO" b="1" noProof="1">
              <a:latin typeface="Amasis MT Pro Medium" panose="020F0502020204030204" pitchFamily="18" charset="0"/>
            </a:endParaRPr>
          </a:p>
          <a:p>
            <a:pPr algn="just">
              <a:buNone/>
            </a:pPr>
            <a:r>
              <a:rPr lang="ro-RO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Modelul AI este consumat ca serviciu extern. Backend-ul filtrează doar răspunsurile greșite și trimite către model doar informația relevantă.</a:t>
            </a:r>
          </a:p>
          <a:p>
            <a:pPr algn="just">
              <a:buNone/>
            </a:pPr>
            <a:r>
              <a:rPr lang="ro-RO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Algoritmul ELO reprezintă un model de decizie care personalizează experiența fiecărui utilizator.</a:t>
            </a:r>
          </a:p>
          <a:p>
            <a:pPr algn="just">
              <a:buNone/>
            </a:pPr>
            <a:r>
              <a:rPr lang="ro-RO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Dashboard-ul  din profil</a:t>
            </a:r>
            <a:r>
              <a:rPr lang="en-US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o-RO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transformă datele colectate în indicatori de progres.</a:t>
            </a:r>
          </a:p>
          <a:p>
            <a:pPr algn="just">
              <a:buNone/>
            </a:pPr>
            <a:r>
              <a:rPr lang="ro-RO" noProof="1">
                <a:latin typeface="Times New Roman" panose="02020603050405020304" pitchFamily="18" charset="0"/>
                <a:cs typeface="Times New Roman" panose="02020603050405020304" pitchFamily="18" charset="0"/>
              </a:rPr>
              <a:t>Datele din backend sunt transformate într-o reprezentare vizuală interactivă -&gt; VIS Network.</a:t>
            </a:r>
            <a:br>
              <a:rPr lang="ro-RO" noProof="1"/>
            </a:br>
            <a:endParaRPr lang="ro-RO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053130-BF2D-6F14-F40A-76353E50D64C}"/>
              </a:ext>
            </a:extLst>
          </p:cNvPr>
          <p:cNvSpPr txBox="1"/>
          <p:nvPr/>
        </p:nvSpPr>
        <p:spPr>
          <a:xfrm>
            <a:off x="1215816" y="4053404"/>
            <a:ext cx="92582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o-RO" sz="2400" noProof="1">
                <a:solidFill>
                  <a:srgbClr val="002060"/>
                </a:solidFill>
              </a:rPr>
              <a:t>GrInfo demonstrează că algoritmii de evaluare adaptivă, integrarea serviciilor AI și o arhitectură modulară pot fi combinate într-o platformă educațională funcțională și extensibilă.</a:t>
            </a:r>
          </a:p>
        </p:txBody>
      </p:sp>
    </p:spTree>
    <p:extLst>
      <p:ext uri="{BB962C8B-B14F-4D97-AF65-F5344CB8AC3E}">
        <p14:creationId xmlns:p14="http://schemas.microsoft.com/office/powerpoint/2010/main" val="29987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split orient="vert"/>
      </p:transition>
    </mc:Choice>
    <mc:Fallback xmlns="">
      <p:transition spd="slow">
        <p:split orient="vert"/>
      </p:transition>
    </mc:Fallback>
  </mc:AlternateContent>
</p:sld>
</file>

<file path=ppt/theme/_rels/them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4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5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6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8FA751"/>
      </a:accent1>
      <a:accent2>
        <a:srgbClr val="629D7D"/>
      </a:accent2>
      <a:accent3>
        <a:srgbClr val="5A7AAB"/>
      </a:accent3>
      <a:accent4>
        <a:srgbClr val="AA618F"/>
      </a:accent4>
      <a:accent5>
        <a:srgbClr val="BA5445"/>
      </a:accent5>
      <a:accent6>
        <a:srgbClr val="C8A547"/>
      </a:accent6>
      <a:hlink>
        <a:srgbClr val="91BF1A"/>
      </a:hlink>
      <a:folHlink>
        <a:srgbClr val="ADBE82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CF823853-53CC-4249-AEDB-2EA9F718B2D2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2C463203D1DE46A5B1240BD3E25A60" ma:contentTypeVersion="13" ma:contentTypeDescription="Create a new document." ma:contentTypeScope="" ma:versionID="0522a0f239ef28e804e561b4abcfc590">
  <xsd:schema xmlns:xsd="http://www.w3.org/2001/XMLSchema" xmlns:xs="http://www.w3.org/2001/XMLSchema" xmlns:p="http://schemas.microsoft.com/office/2006/metadata/properties" xmlns:ns3="4f8df893-a950-43d6-a65e-8091419acfc5" xmlns:ns4="ddc56ff9-4389-4237-bb7e-2951cdfa92d0" targetNamespace="http://schemas.microsoft.com/office/2006/metadata/properties" ma:root="true" ma:fieldsID="cc98e8e0e551855ca04c094de1b4cc3d" ns3:_="" ns4:_="">
    <xsd:import namespace="4f8df893-a950-43d6-a65e-8091419acfc5"/>
    <xsd:import namespace="ddc56ff9-4389-4237-bb7e-2951cdfa92d0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f8df893-a950-43d6-a65e-8091419acfc5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c56ff9-4389-4237-bb7e-2951cdfa92d0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f8df893-a950-43d6-a65e-8091419acfc5" xsi:nil="true"/>
  </documentManagement>
</p:properties>
</file>

<file path=customXml/itemProps1.xml><?xml version="1.0" encoding="utf-8"?>
<ds:datastoreItem xmlns:ds="http://schemas.openxmlformats.org/officeDocument/2006/customXml" ds:itemID="{0EE81E5A-646A-4E1C-B8D1-F5431FD0AA3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A670600-B4FF-46FF-A7CC-725F9EB6ED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f8df893-a950-43d6-a65e-8091419acfc5"/>
    <ds:schemaRef ds:uri="ddc56ff9-4389-4237-bb7e-2951cdfa92d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C15C516-5F4A-41DE-85E6-9B4EF339606B}">
  <ds:schemaRefs>
    <ds:schemaRef ds:uri="http://purl.org/dc/dcmitype/"/>
    <ds:schemaRef ds:uri="http://purl.org/dc/terms/"/>
    <ds:schemaRef ds:uri="http://purl.org/dc/elements/1.1/"/>
    <ds:schemaRef ds:uri="ddc56ff9-4389-4237-bb7e-2951cdfa92d0"/>
    <ds:schemaRef ds:uri="http://www.w3.org/XML/1998/namespace"/>
    <ds:schemaRef ds:uri="4f8df893-a950-43d6-a65e-8091419acfc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320</TotalTime>
  <Words>735</Words>
  <Application>Microsoft Office PowerPoint</Application>
  <PresentationFormat>Widescreen</PresentationFormat>
  <Paragraphs>77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11</vt:i4>
      </vt:variant>
    </vt:vector>
  </HeadingPairs>
  <TitlesOfParts>
    <vt:vector size="32" baseType="lpstr">
      <vt:lpstr>Amasis MT Pro Medium</vt:lpstr>
      <vt:lpstr>Aptos</vt:lpstr>
      <vt:lpstr>Aptos Display</vt:lpstr>
      <vt:lpstr>Arial</vt:lpstr>
      <vt:lpstr>Calisto MT</vt:lpstr>
      <vt:lpstr>Century Schoolbook</vt:lpstr>
      <vt:lpstr>Garamond</vt:lpstr>
      <vt:lpstr>Gill Sans MT</vt:lpstr>
      <vt:lpstr>Impact</vt:lpstr>
      <vt:lpstr>Times New Roman</vt:lpstr>
      <vt:lpstr>Trebuchet MS</vt:lpstr>
      <vt:lpstr>Univers Condensed</vt:lpstr>
      <vt:lpstr>Wingdings 2</vt:lpstr>
      <vt:lpstr>Wingdings 3</vt:lpstr>
      <vt:lpstr>ChronicleVTI</vt:lpstr>
      <vt:lpstr>View</vt:lpstr>
      <vt:lpstr>Facet</vt:lpstr>
      <vt:lpstr>Dividend</vt:lpstr>
      <vt:lpstr>Organic</vt:lpstr>
      <vt:lpstr>Office Theme</vt:lpstr>
      <vt:lpstr>Main Event</vt:lpstr>
      <vt:lpstr>Lucrare de licență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MIHAI SIMA</dc:creator>
  <cp:lastModifiedBy>MIHAI SIMA</cp:lastModifiedBy>
  <cp:revision>4</cp:revision>
  <dcterms:created xsi:type="dcterms:W3CDTF">2026-07-02T18:03:40Z</dcterms:created>
  <dcterms:modified xsi:type="dcterms:W3CDTF">2026-07-25T19:10:52Z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0x0101007C2C463203D1DE46A5B1240BD3E25A60</vt:lpwstr>
  </property>
</Properties>
</file>